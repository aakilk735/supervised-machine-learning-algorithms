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63" r:id="rId3"/>
    <p:sldId id="259" r:id="rId4"/>
    <p:sldId id="258" r:id="rId5"/>
    <p:sldId id="261" r:id="rId6"/>
    <p:sldId id="260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54BA31-2119-4E8F-97C3-82F810D8793E}">
          <p14:sldIdLst>
            <p14:sldId id="256"/>
            <p14:sldId id="263"/>
            <p14:sldId id="259"/>
            <p14:sldId id="258"/>
            <p14:sldId id="261"/>
            <p14:sldId id="260"/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6F52A-D67F-4529-B750-F1E2333C93D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329C3-BAD8-4F07-A8DE-760868513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98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329C3-BAD8-4F07-A8DE-7608685133F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3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07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47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54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90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16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0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48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96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40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63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40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605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163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763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550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587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79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817130-3993-4A2C-8969-B4F1911E0CE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EB7133-7C55-4262-9220-B64C208341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21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0940-7F5F-ACD9-FDC1-9AC2860E0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600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045A6-9F15-8411-B45D-471AFB493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7653" y="3471337"/>
            <a:ext cx="10176387" cy="3064233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                                                       </a:t>
            </a:r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							</a:t>
            </a:r>
          </a:p>
        </p:txBody>
      </p:sp>
    </p:spTree>
    <p:extLst>
      <p:ext uri="{BB962C8B-B14F-4D97-AF65-F5344CB8AC3E}">
        <p14:creationId xmlns:p14="http://schemas.microsoft.com/office/powerpoint/2010/main" val="1737020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CB72-B370-52CA-A6B2-A1448ACD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912" y="972300"/>
            <a:ext cx="9601196" cy="1303867"/>
          </a:xfrm>
        </p:spPr>
        <p:txBody>
          <a:bodyPr/>
          <a:lstStyle/>
          <a:p>
            <a:r>
              <a:rPr lang="en-IN" dirty="0"/>
              <a:t>What is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27129-42BF-4CB2-0FE9-C53CF3715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910895"/>
            <a:ext cx="9601196" cy="167093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Machine Learning is a process of Teaching computers or recognized patterns in data and make decision.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Machine Learning is a branch of AI that enable computers to</a:t>
            </a:r>
            <a:r>
              <a:rPr lang="en-IN" b="1" dirty="0"/>
              <a:t> learn from data.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869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F81B-0899-1605-ED6D-B651C9B4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317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/>
              <a:t>Types of Machine Learning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74CB7-3A35-C724-1410-1AD38395A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Supervised ML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Unsupervised ML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Semi-Supervised ML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Reinforcement ML</a:t>
            </a:r>
          </a:p>
        </p:txBody>
      </p:sp>
    </p:spTree>
    <p:extLst>
      <p:ext uri="{BB962C8B-B14F-4D97-AF65-F5344CB8AC3E}">
        <p14:creationId xmlns:p14="http://schemas.microsoft.com/office/powerpoint/2010/main" val="36285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C0E2-CEA1-35CF-CDD4-966409BC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5B21-E0C1-EEE4-EAFE-4AB417C22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dirty="0"/>
              <a:t>Supervised machine learning is type of ML where a model is trained using Labeled data.</a:t>
            </a:r>
          </a:p>
          <a:p>
            <a:pPr marL="0" indent="0">
              <a:buNone/>
            </a:pPr>
            <a:r>
              <a:rPr lang="en-US" sz="4000" b="1" dirty="0"/>
              <a:t>Labeled means</a:t>
            </a:r>
            <a:r>
              <a:rPr lang="en-US" sz="4400" b="1" dirty="0"/>
              <a:t>: </a:t>
            </a:r>
            <a:r>
              <a:rPr lang="en-US" sz="4400" dirty="0"/>
              <a:t>input data already has correct answer...</a:t>
            </a:r>
          </a:p>
          <a:p>
            <a:pPr marL="0" indent="0">
              <a:buNone/>
            </a:pPr>
            <a:r>
              <a:rPr lang="en-US" sz="4000" b="1" dirty="0"/>
              <a:t>There are two types of Supervised Machine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Regression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Classification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63495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2EE8-3F5E-D089-FAD9-C2236F69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973E-F734-A149-A792-6A363A7A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743" y="2556932"/>
            <a:ext cx="9601196" cy="283114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Regression</a:t>
            </a:r>
            <a:r>
              <a:rPr lang="en-US" dirty="0"/>
              <a:t> is a type of supervised machine learning where the model predicts a </a:t>
            </a:r>
            <a:r>
              <a:rPr lang="en-US" b="1" dirty="0"/>
              <a:t>continuous numerical value</a:t>
            </a:r>
            <a:r>
              <a:rPr lang="en-US" dirty="0"/>
              <a:t> based on input data.</a:t>
            </a:r>
          </a:p>
          <a:p>
            <a:pPr marL="0" indent="0">
              <a:buNone/>
            </a:pPr>
            <a:r>
              <a:rPr lang="en-IN" b="1" dirty="0"/>
              <a:t>Examples:  </a:t>
            </a:r>
            <a:r>
              <a:rPr lang="en-US" dirty="0"/>
              <a:t>Predicting </a:t>
            </a:r>
            <a:r>
              <a:rPr lang="en-US" b="1" dirty="0"/>
              <a:t>house price</a:t>
            </a:r>
            <a:r>
              <a:rPr lang="en-US" dirty="0"/>
              <a:t> based on size, location, etc.</a:t>
            </a:r>
          </a:p>
          <a:p>
            <a:pPr marL="0" indent="0">
              <a:buNone/>
            </a:pPr>
            <a:r>
              <a:rPr lang="en-US" b="1" dirty="0"/>
              <a:t>                                       </a:t>
            </a:r>
            <a:r>
              <a:rPr lang="en-IN" sz="2800" b="1" dirty="0"/>
              <a:t>Regression Algorithms</a:t>
            </a:r>
          </a:p>
          <a:p>
            <a:pPr marL="0" indent="0">
              <a:buNone/>
            </a:pPr>
            <a:r>
              <a:rPr lang="en-IN" b="1" dirty="0"/>
              <a:t>1. Linear Regression </a:t>
            </a:r>
          </a:p>
          <a:p>
            <a:pPr marL="0" indent="0">
              <a:buNone/>
            </a:pPr>
            <a:r>
              <a:rPr lang="en-IN" b="1" dirty="0"/>
              <a:t>2. Polynomial Regression</a:t>
            </a:r>
          </a:p>
          <a:p>
            <a:pPr marL="0" indent="0">
              <a:buNone/>
            </a:pPr>
            <a:r>
              <a:rPr lang="en-IN" b="1" dirty="0"/>
              <a:t>3. Ridge Regression</a:t>
            </a:r>
          </a:p>
          <a:p>
            <a:pPr marL="0" indent="0">
              <a:buNone/>
            </a:pPr>
            <a:r>
              <a:rPr lang="en-IN" b="1" dirty="0"/>
              <a:t>4. Lasso Regression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522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3E06-762F-350E-BA02-07E4BE5B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FFC38-FAA5-CA6C-1485-FA2E0EB68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Linear Regression a Supervised Machine Learning Algorithm that is used to predict a number(Continuous value)  by finding the relationship between Input and output using straight line </a:t>
            </a:r>
          </a:p>
          <a:p>
            <a:pPr marL="0" indent="0">
              <a:buNone/>
            </a:pPr>
            <a:r>
              <a:rPr lang="en-IN" b="1" dirty="0"/>
              <a:t>Note:- </a:t>
            </a:r>
            <a:r>
              <a:rPr lang="en-IN" dirty="0"/>
              <a:t>Linear Regression draws the best straight line through data points to make predictions.</a:t>
            </a:r>
          </a:p>
          <a:p>
            <a:pPr marL="0" indent="0">
              <a:buNone/>
            </a:pPr>
            <a:r>
              <a:rPr lang="en-IN" dirty="0"/>
              <a:t>Linear Regression equation is Y=</a:t>
            </a:r>
            <a:r>
              <a:rPr lang="en-IN" dirty="0" err="1"/>
              <a:t>mx+c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33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1DFE0-EC55-063E-F728-350D2F0089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68829" y="653143"/>
            <a:ext cx="10602684" cy="53775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							</a:t>
            </a:r>
            <a:r>
              <a:rPr lang="en-IN" b="1" dirty="0"/>
              <a:t>Types of Linear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Simple Linear Regression:- </a:t>
            </a:r>
            <a:r>
              <a:rPr lang="en-IN" dirty="0"/>
              <a:t>use one independent variable(x)  to predict one dependent variable(y).</a:t>
            </a:r>
          </a:p>
          <a:p>
            <a:pPr marL="0" indent="0">
              <a:buNone/>
            </a:pPr>
            <a:r>
              <a:rPr lang="en-IN" b="1" dirty="0"/>
              <a:t>  Equations :- </a:t>
            </a:r>
            <a:r>
              <a:rPr lang="en-IN" dirty="0"/>
              <a:t>y=</a:t>
            </a:r>
            <a:r>
              <a:rPr lang="en-IN" dirty="0" err="1"/>
              <a:t>mx+c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Multiple Linear Regression:-</a:t>
            </a:r>
            <a:r>
              <a:rPr lang="en-IN" dirty="0"/>
              <a:t> used two or mare independent variables to predict one output.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Equations :- </a:t>
            </a:r>
            <a:r>
              <a:rPr lang="en-IN" dirty="0"/>
              <a:t>y=m1x1+m2x2+m3x3+c</a:t>
            </a:r>
          </a:p>
          <a:p>
            <a:pPr marL="0" indent="0">
              <a:buNone/>
            </a:pPr>
            <a:r>
              <a:rPr lang="en-IN" dirty="0"/>
              <a:t>   where y=predict output</a:t>
            </a:r>
          </a:p>
          <a:p>
            <a:pPr marL="0" indent="0">
              <a:buNone/>
            </a:pPr>
            <a:r>
              <a:rPr lang="en-IN" dirty="0"/>
              <a:t>             x1,x2,x3=inputs variables</a:t>
            </a:r>
          </a:p>
          <a:p>
            <a:pPr marL="0" indent="0">
              <a:buNone/>
            </a:pPr>
            <a:r>
              <a:rPr lang="en-IN" dirty="0"/>
              <a:t>            m1,m2,m3=coefficients</a:t>
            </a:r>
          </a:p>
          <a:p>
            <a:pPr marL="0" indent="0">
              <a:buNone/>
            </a:pPr>
            <a:r>
              <a:rPr lang="en-IN" dirty="0"/>
              <a:t>            c=intercept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2711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9B55-DF16-C3C6-013B-A56CF943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674914"/>
            <a:ext cx="10145484" cy="1752600"/>
          </a:xfrm>
        </p:spPr>
        <p:txBody>
          <a:bodyPr/>
          <a:lstStyle/>
          <a:p>
            <a:r>
              <a:rPr lang="en-IN" b="1" dirty="0"/>
              <a:t> Polynomial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3A245-4ABE-7D17-7BC9-196910FCA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2535161"/>
            <a:ext cx="9601196" cy="33189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Polynomial Regression is used to when the relationship between variables is not a straight line but a curve.</a:t>
            </a:r>
          </a:p>
          <a:p>
            <a:pPr marL="0" indent="0">
              <a:buNone/>
            </a:pPr>
            <a:r>
              <a:rPr lang="en-US" dirty="0"/>
              <a:t>    Equation :-  y=m1x+m2x^2+m3x^3+c</a:t>
            </a:r>
          </a:p>
          <a:p>
            <a:pPr marL="0" indent="0">
              <a:buNone/>
            </a:pPr>
            <a:r>
              <a:rPr lang="en-US" dirty="0"/>
              <a:t>      where y=predict output</a:t>
            </a:r>
          </a:p>
          <a:p>
            <a:pPr marL="0" indent="0">
              <a:buNone/>
            </a:pPr>
            <a:r>
              <a:rPr lang="en-US" dirty="0"/>
              <a:t> m1,m2,m3=</a:t>
            </a:r>
            <a:r>
              <a:rPr lang="en-IN" dirty="0"/>
              <a:t>Coefficients</a:t>
            </a:r>
          </a:p>
          <a:p>
            <a:pPr marL="0" indent="0">
              <a:buNone/>
            </a:pPr>
            <a:r>
              <a:rPr lang="en-IN" dirty="0"/>
              <a:t>C=intercept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83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D0E2-4926-3493-CB51-A663AE80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Ridge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47BD1-A2F7-E3F8-8165-C613C96F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Ridge Regression is a type of Linear Regression that is used to reduce the overfitting when model has many features.</a:t>
            </a:r>
          </a:p>
          <a:p>
            <a:pPr marL="0" indent="0">
              <a:buNone/>
            </a:pPr>
            <a:r>
              <a:rPr lang="en-IN" dirty="0"/>
              <a:t>Note:- It improves the model by adding a penalty term.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Equation:- </a:t>
            </a:r>
            <a:r>
              <a:rPr lang="en-IN" dirty="0"/>
              <a:t>Loss=RSS(Error)+</a:t>
            </a:r>
            <a:r>
              <a:rPr lang="el-GR" dirty="0"/>
              <a:t>λ∑(</a:t>
            </a:r>
            <a:r>
              <a:rPr lang="en-IN" dirty="0"/>
              <a:t>m^2​)</a:t>
            </a:r>
          </a:p>
          <a:p>
            <a:pPr marL="0" indent="0">
              <a:buNone/>
            </a:pPr>
            <a:r>
              <a:rPr lang="en-IN" dirty="0"/>
              <a:t>  where  RSS= Residual sum of square (error)</a:t>
            </a:r>
          </a:p>
          <a:p>
            <a:pPr marL="0" indent="0">
              <a:buNone/>
            </a:pPr>
            <a:r>
              <a:rPr lang="en-IN" dirty="0"/>
              <a:t> 		</a:t>
            </a:r>
            <a:r>
              <a:rPr lang="el-GR" dirty="0"/>
              <a:t>λ</a:t>
            </a:r>
            <a:r>
              <a:rPr lang="en-IN" dirty="0"/>
              <a:t>=regularization parameter</a:t>
            </a:r>
          </a:p>
          <a:p>
            <a:pPr marL="0" indent="0">
              <a:buNone/>
            </a:pPr>
            <a:r>
              <a:rPr lang="en-IN" dirty="0"/>
              <a:t>		m^2= square of coefficients</a:t>
            </a:r>
          </a:p>
        </p:txBody>
      </p:sp>
    </p:spTree>
    <p:extLst>
      <p:ext uri="{BB962C8B-B14F-4D97-AF65-F5344CB8AC3E}">
        <p14:creationId xmlns:p14="http://schemas.microsoft.com/office/powerpoint/2010/main" val="117729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281A-896E-D3F4-52CD-7910D6752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9866F-35A9-02FC-C43B-25146BA9B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Lasso Regression </a:t>
            </a:r>
            <a:r>
              <a:rPr lang="en-IN" dirty="0"/>
              <a:t>reduce the overfitting and perform feature selection.</a:t>
            </a:r>
          </a:p>
          <a:p>
            <a:pPr marL="0" indent="0">
              <a:buNone/>
            </a:pPr>
            <a:r>
              <a:rPr lang="en-IN" dirty="0"/>
              <a:t>Note:- </a:t>
            </a:r>
            <a:r>
              <a:rPr lang="en-US" dirty="0"/>
              <a:t>It not only controls overfitting but also </a:t>
            </a:r>
            <a:r>
              <a:rPr lang="en-US" b="1" dirty="0"/>
              <a:t>removes unnecessary features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Equation:- </a:t>
            </a:r>
            <a:r>
              <a:rPr lang="en-IN" dirty="0"/>
              <a:t>Loss=Error+</a:t>
            </a:r>
            <a:r>
              <a:rPr lang="el-GR" dirty="0"/>
              <a:t>λ∑∣</a:t>
            </a:r>
            <a:r>
              <a:rPr lang="en-IN" dirty="0"/>
              <a:t>m∣</a:t>
            </a:r>
          </a:p>
          <a:p>
            <a:pPr marL="0" indent="0">
              <a:buNone/>
            </a:pPr>
            <a:r>
              <a:rPr lang="en-IN" dirty="0"/>
              <a:t>Where |m|=absolute value of coefficient.</a:t>
            </a:r>
          </a:p>
        </p:txBody>
      </p:sp>
    </p:spTree>
    <p:extLst>
      <p:ext uri="{BB962C8B-B14F-4D97-AF65-F5344CB8AC3E}">
        <p14:creationId xmlns:p14="http://schemas.microsoft.com/office/powerpoint/2010/main" val="258608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2A4A-1E40-60F5-ED1B-A895D865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445382"/>
          </a:xfrm>
        </p:spPr>
        <p:txBody>
          <a:bodyPr>
            <a:normAutofit/>
          </a:bodyPr>
          <a:lstStyle/>
          <a:p>
            <a:r>
              <a:rPr lang="en-IN" b="1"/>
              <a:t>Classification</a:t>
            </a:r>
            <a:br>
              <a:rPr lang="en-IN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56DD6-7882-BA23-7D7D-B675F742A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Classification</a:t>
            </a:r>
            <a:r>
              <a:rPr lang="en-US" dirty="0"/>
              <a:t> is a type of supervised machine learning where the model predicts a </a:t>
            </a:r>
            <a:r>
              <a:rPr lang="en-US" b="1" dirty="0"/>
              <a:t>category (label)</a:t>
            </a:r>
            <a:r>
              <a:rPr lang="en-US" dirty="0"/>
              <a:t> instead of a number.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b="1" dirty="0"/>
              <a:t>Example:- </a:t>
            </a:r>
            <a:r>
              <a:rPr lang="en-US" dirty="0"/>
              <a:t>Student result → </a:t>
            </a:r>
            <a:r>
              <a:rPr lang="en-US" b="1" dirty="0"/>
              <a:t>Pass or Fail</a:t>
            </a:r>
          </a:p>
          <a:p>
            <a:pPr marL="0" indent="0">
              <a:buNone/>
            </a:pPr>
            <a:r>
              <a:rPr lang="en-US" b="1" dirty="0"/>
              <a:t>						</a:t>
            </a:r>
            <a:r>
              <a:rPr lang="en-IN" sz="2600" b="1" dirty="0"/>
              <a:t>Classification Algorithms</a:t>
            </a:r>
          </a:p>
          <a:p>
            <a:pPr marL="457200" indent="-457200">
              <a:buAutoNum type="arabicPeriod"/>
            </a:pPr>
            <a:r>
              <a:rPr lang="en-IN" sz="2100" b="1" dirty="0"/>
              <a:t>Logistic Regression</a:t>
            </a:r>
          </a:p>
          <a:p>
            <a:pPr marL="457200" indent="-457200">
              <a:buAutoNum type="arabicPeriod"/>
            </a:pPr>
            <a:r>
              <a:rPr lang="en-IN" sz="2100" b="1" dirty="0"/>
              <a:t>K-NN </a:t>
            </a:r>
          </a:p>
          <a:p>
            <a:pPr marL="457200" indent="-457200">
              <a:buAutoNum type="arabicPeriod"/>
            </a:pPr>
            <a:r>
              <a:rPr lang="en-IN" sz="2100" b="1" dirty="0"/>
              <a:t>Decision Tree</a:t>
            </a:r>
          </a:p>
          <a:p>
            <a:pPr marL="457200" indent="-457200">
              <a:buAutoNum type="arabicPeriod"/>
            </a:pPr>
            <a:r>
              <a:rPr lang="en-IN" sz="2100" b="1" dirty="0"/>
              <a:t>Random Forest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52284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E29F9-B915-6804-D618-827EBE127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Logistic Regression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7A33F-7B69-0122-45DB-02E87CAD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Logistic Regression :- </a:t>
            </a:r>
            <a:r>
              <a:rPr lang="en-IN" dirty="0"/>
              <a:t>That is used for Classification Problems especially when the output has two possible classes.</a:t>
            </a:r>
          </a:p>
          <a:p>
            <a:pPr marL="0" indent="0">
              <a:buNone/>
            </a:pPr>
            <a:r>
              <a:rPr lang="en-IN" dirty="0"/>
              <a:t>	For Example yes/no , 0/1 and Ture/False.</a:t>
            </a:r>
          </a:p>
          <a:p>
            <a:r>
              <a:rPr lang="en-IN" b="1" dirty="0"/>
              <a:t>Logistic Sigmoid Function : - </a:t>
            </a:r>
            <a:r>
              <a:rPr lang="en-IN" dirty="0"/>
              <a:t>Uses of the Sigmoid function to convert the value into Probabilities(0/1).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b="1" dirty="0"/>
              <a:t>Formula:-  </a:t>
            </a:r>
            <a:r>
              <a:rPr lang="pl-PL" dirty="0"/>
              <a:t>σ(z) = 1 / (1 + e^(-z))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	Where</a:t>
            </a:r>
            <a:r>
              <a:rPr lang="en-IN" sz="1800" b="1" dirty="0"/>
              <a:t> </a:t>
            </a:r>
            <a:r>
              <a:rPr lang="pl-PL" dirty="0"/>
              <a:t>σ(z) </a:t>
            </a:r>
            <a:r>
              <a:rPr lang="en-IN" sz="1800" dirty="0"/>
              <a:t>=</a:t>
            </a:r>
            <a:r>
              <a:rPr lang="en-IN" dirty="0"/>
              <a:t>Sigmoid Function</a:t>
            </a:r>
          </a:p>
          <a:p>
            <a:pPr marL="0" indent="0">
              <a:buNone/>
            </a:pPr>
            <a:r>
              <a:rPr lang="en-IN" dirty="0"/>
              <a:t>			z=input value</a:t>
            </a:r>
          </a:p>
          <a:p>
            <a:pPr marL="0" indent="0">
              <a:buNone/>
            </a:pPr>
            <a:r>
              <a:rPr lang="en-IN" dirty="0"/>
              <a:t>			e=Euler number	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401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CD91-37E8-CB42-88EF-20560D33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661F-958D-1588-EA95-4D47A006F00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68829" y="653143"/>
            <a:ext cx="10602684" cy="5377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							</a:t>
            </a:r>
            <a:r>
              <a:rPr lang="en-IN" b="1" dirty="0"/>
              <a:t>Types of Logistic Regression</a:t>
            </a:r>
          </a:p>
          <a:p>
            <a:r>
              <a:rPr lang="en-IN" sz="2000" b="1" dirty="0"/>
              <a:t>Binary Logistic Regression :- </a:t>
            </a:r>
            <a:r>
              <a:rPr lang="en-US" sz="2000" dirty="0"/>
              <a:t>Used when there are </a:t>
            </a:r>
            <a:r>
              <a:rPr lang="en-US" sz="2000" b="1" dirty="0"/>
              <a:t>only two possible  classes.</a:t>
            </a:r>
          </a:p>
          <a:p>
            <a:pPr marL="0" indent="0">
              <a:buNone/>
            </a:pPr>
            <a:r>
              <a:rPr lang="en-US" sz="2000" b="1" dirty="0"/>
              <a:t>	Example: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	If probability </a:t>
            </a:r>
            <a:r>
              <a:rPr lang="en-US" altLang="en-US" sz="1800" b="1" dirty="0">
                <a:solidFill>
                  <a:schemeClr val="tx1"/>
                </a:solidFill>
              </a:rPr>
              <a:t>≥</a:t>
            </a:r>
            <a:r>
              <a:rPr lang="en-US" altLang="en-US" sz="2000" dirty="0">
                <a:solidFill>
                  <a:schemeClr val="tx1"/>
                </a:solidFill>
              </a:rPr>
              <a:t> 0.5 → Class 1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	</a:t>
            </a:r>
            <a:r>
              <a:rPr lang="en-US" sz="1800" b="1" dirty="0">
                <a:solidFill>
                  <a:schemeClr val="tx1"/>
                </a:solidFill>
              </a:rPr>
              <a:t>If probability &lt;</a:t>
            </a:r>
            <a:r>
              <a:rPr lang="en-US" sz="1800" dirty="0">
                <a:solidFill>
                  <a:schemeClr val="tx1"/>
                </a:solidFill>
              </a:rPr>
              <a:t> 0.5 </a:t>
            </a:r>
            <a:r>
              <a:rPr lang="en-US" altLang="en-US" sz="2000" dirty="0">
                <a:solidFill>
                  <a:schemeClr val="tx1"/>
                </a:solidFill>
              </a:rPr>
              <a:t>→ Class 0</a:t>
            </a:r>
          </a:p>
          <a:p>
            <a:r>
              <a:rPr lang="en-IN" sz="2000" b="1" dirty="0"/>
              <a:t>Multinomial Logistic Regression :- </a:t>
            </a:r>
            <a:r>
              <a:rPr lang="en-US" sz="2000" dirty="0"/>
              <a:t>Used when there are </a:t>
            </a:r>
            <a:r>
              <a:rPr lang="en-US" sz="2000" b="1" dirty="0"/>
              <a:t>more than two classes and no order between them.</a:t>
            </a:r>
          </a:p>
          <a:p>
            <a:pPr marL="0" indent="0">
              <a:buNone/>
            </a:pPr>
            <a:r>
              <a:rPr lang="en-US" sz="2000" b="1" dirty="0"/>
              <a:t>	Example:-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IN" sz="2000" dirty="0"/>
              <a:t>Fruit classification → Apple, Banana, Mango</a:t>
            </a:r>
          </a:p>
          <a:p>
            <a:pPr marL="0" indent="0">
              <a:buNone/>
            </a:pPr>
            <a:r>
              <a:rPr lang="en-IN" sz="2000" b="1" dirty="0"/>
              <a:t>	</a:t>
            </a:r>
            <a:r>
              <a:rPr lang="en-IN" sz="2000" dirty="0"/>
              <a:t>Animal classification → Dog, Cat, Cow</a:t>
            </a:r>
          </a:p>
          <a:p>
            <a:r>
              <a:rPr lang="en-IN" sz="2000" b="1" dirty="0"/>
              <a:t>Ordinal Logistic Regression :- </a:t>
            </a:r>
            <a:r>
              <a:rPr lang="en-US" sz="2000" dirty="0"/>
              <a:t>Used when there are </a:t>
            </a:r>
            <a:r>
              <a:rPr lang="en-US" sz="2000" b="1" dirty="0"/>
              <a:t>multiple classes with order.</a:t>
            </a:r>
          </a:p>
          <a:p>
            <a:pPr marL="0" indent="0">
              <a:buNone/>
            </a:pPr>
            <a:r>
              <a:rPr lang="en-US" sz="2000" b="1" dirty="0"/>
              <a:t>	Example:- </a:t>
            </a:r>
            <a:r>
              <a:rPr lang="en-US" sz="2000" dirty="0"/>
              <a:t>Education level → High School, Bachelor, Master, PhD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09202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0120-0CAB-174B-E704-F32D9570A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C6B3A-4243-ED01-6B38-7B24A49FD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Decision Tree </a:t>
            </a:r>
            <a:r>
              <a:rPr lang="en-US" dirty="0"/>
              <a:t>is a machine learning algorithm that splits data into smaller parts based on conditions, checks these conditions step by step, and finally makes a prediction or decision.</a:t>
            </a:r>
          </a:p>
          <a:p>
            <a:pPr marL="0" indent="0">
              <a:buNone/>
            </a:pPr>
            <a:r>
              <a:rPr lang="en-US" dirty="0"/>
              <a:t>						</a:t>
            </a:r>
            <a:r>
              <a:rPr lang="en-US" b="1" dirty="0"/>
              <a:t>Types of Decision Tree</a:t>
            </a:r>
          </a:p>
          <a:p>
            <a:pPr marL="457200" indent="-457200">
              <a:buAutoNum type="arabicPeriod"/>
            </a:pPr>
            <a:r>
              <a:rPr lang="en-US" b="1" dirty="0"/>
              <a:t>Classification Tree:</a:t>
            </a:r>
            <a:r>
              <a:rPr lang="en-US" dirty="0"/>
              <a:t> A decision tree used to predict categorical outcomes.</a:t>
            </a:r>
          </a:p>
          <a:p>
            <a:pPr marL="457200" indent="-457200">
              <a:buAutoNum type="arabicPeriod"/>
            </a:pPr>
            <a:r>
              <a:rPr lang="en-US" b="1" dirty="0"/>
              <a:t>Regression Tree:</a:t>
            </a:r>
            <a:r>
              <a:rPr lang="en-US" dirty="0"/>
              <a:t> A decision tree used to predict continuous numerical values.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1502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F5E4A-3CBA-61A1-F39E-92640C74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EFB79-24CD-B142-CB5A-0B31CCA63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Random Forest</a:t>
            </a:r>
            <a:r>
              <a:rPr lang="en-US" dirty="0"/>
              <a:t> is a </a:t>
            </a:r>
            <a:r>
              <a:rPr lang="en-US" b="1" dirty="0"/>
              <a:t>machine learning algorithm</a:t>
            </a:r>
            <a:r>
              <a:rPr lang="en-US" dirty="0"/>
              <a:t> that uses </a:t>
            </a:r>
            <a:r>
              <a:rPr lang="en-US" b="1" dirty="0"/>
              <a:t>multiple decision trees together</a:t>
            </a:r>
            <a:r>
              <a:rPr lang="en-US" dirty="0"/>
              <a:t> to make a better and more accurate prediction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Understanding Random Forest In Machine Learning | by Pranav | Medium">
            <a:extLst>
              <a:ext uri="{FF2B5EF4-FFF2-40B4-BE49-F238E27FC236}">
                <a16:creationId xmlns:a16="http://schemas.microsoft.com/office/drawing/2014/main" id="{57193EA8-D26F-1B17-FD3B-4C6C38D60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462" y="3429000"/>
            <a:ext cx="3484345" cy="278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69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293</TotalTime>
  <Words>822</Words>
  <Application>Microsoft Office PowerPoint</Application>
  <PresentationFormat>Widescreen</PresentationFormat>
  <Paragraphs>98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Garamond</vt:lpstr>
      <vt:lpstr>Wingdings</vt:lpstr>
      <vt:lpstr>Organic</vt:lpstr>
      <vt:lpstr>Machine Learning</vt:lpstr>
      <vt:lpstr>What is Machine Learning</vt:lpstr>
      <vt:lpstr>Types of Machine Learning</vt:lpstr>
      <vt:lpstr>Supervised Machine Learning</vt:lpstr>
      <vt:lpstr>Regression</vt:lpstr>
      <vt:lpstr>Linear Regression</vt:lpstr>
      <vt:lpstr>PowerPoint Presentation</vt:lpstr>
      <vt:lpstr> Polynomial Regression</vt:lpstr>
      <vt:lpstr>Ridge Regression </vt:lpstr>
      <vt:lpstr>Lasso Regression</vt:lpstr>
      <vt:lpstr>Classification </vt:lpstr>
      <vt:lpstr>Logistic Regression </vt:lpstr>
      <vt:lpstr>PowerPoint Presentation</vt:lpstr>
      <vt:lpstr>Decision Tree</vt:lpstr>
      <vt:lpstr>Random Forest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FDMA</dc:title>
  <dc:creator>Mohammad Aakil</dc:creator>
  <cp:lastModifiedBy>Mohammad Aakil</cp:lastModifiedBy>
  <cp:revision>7</cp:revision>
  <dcterms:created xsi:type="dcterms:W3CDTF">2024-05-29T14:11:45Z</dcterms:created>
  <dcterms:modified xsi:type="dcterms:W3CDTF">2026-03-30T09:21:35Z</dcterms:modified>
</cp:coreProperties>
</file>